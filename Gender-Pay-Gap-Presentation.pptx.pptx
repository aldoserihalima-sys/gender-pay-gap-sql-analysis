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T Lakes Neue Bold" charset="1" panose="02010001040000080307"/>
      <p:regular r:id="rId20"/>
    </p:embeddedFont>
    <p:embeddedFont>
      <p:font typeface="Open Sans Bold" charset="1" panose="020B0806030504020204"/>
      <p:regular r:id="rId21"/>
    </p:embeddedFont>
    <p:embeddedFont>
      <p:font typeface="Open Sans" charset="1" panose="020B0606030504020204"/>
      <p:regular r:id="rId22"/>
    </p:embeddedFont>
    <p:embeddedFont>
      <p:font typeface="TT Lakes Neue" charset="1" panose="02010001040000080307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https://deepdiveanalytics.odoo.com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14249" y="513249"/>
            <a:ext cx="9773751" cy="9773751"/>
          </a:xfrm>
          <a:custGeom>
            <a:avLst/>
            <a:gdLst/>
            <a:ahLst/>
            <a:cxnLst/>
            <a:rect r="r" b="b" t="t" l="l"/>
            <a:pathLst>
              <a:path h="9773751" w="9773751">
                <a:moveTo>
                  <a:pt x="0" y="0"/>
                </a:moveTo>
                <a:lnTo>
                  <a:pt x="9773751" y="0"/>
                </a:lnTo>
                <a:lnTo>
                  <a:pt x="9773751" y="9773751"/>
                </a:lnTo>
                <a:lnTo>
                  <a:pt x="0" y="9773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50995" y="3210528"/>
            <a:ext cx="13326508" cy="1050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2"/>
              </a:lnSpc>
              <a:spcBef>
                <a:spcPct val="0"/>
              </a:spcBef>
            </a:pPr>
            <a:r>
              <a:rPr lang="en-US" b="true" sz="7634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GENDER PAY GAP IN </a:t>
            </a:r>
            <a:r>
              <a:rPr lang="en-US" b="true" sz="7634">
                <a:solidFill>
                  <a:srgbClr val="9BBFE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‘UK’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028700"/>
            <a:ext cx="9062517" cy="9062517"/>
          </a:xfrm>
          <a:custGeom>
            <a:avLst/>
            <a:gdLst/>
            <a:ahLst/>
            <a:cxnLst/>
            <a:rect r="r" b="b" t="t" l="l"/>
            <a:pathLst>
              <a:path h="9062517" w="9062517">
                <a:moveTo>
                  <a:pt x="0" y="0"/>
                </a:moveTo>
                <a:lnTo>
                  <a:pt x="9062517" y="0"/>
                </a:lnTo>
                <a:lnTo>
                  <a:pt x="9062517" y="9062517"/>
                </a:lnTo>
                <a:lnTo>
                  <a:pt x="0" y="90625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>
            <a:hlinkClick r:id="rId6" tooltip="https://deepdiveanalytics.odoo.com"/>
          </p:cNvPr>
          <p:cNvSpPr/>
          <p:nvPr/>
        </p:nvSpPr>
        <p:spPr>
          <a:xfrm flipH="false" flipV="false" rot="0">
            <a:off x="1546248" y="2642202"/>
            <a:ext cx="13005158" cy="2194620"/>
          </a:xfrm>
          <a:custGeom>
            <a:avLst/>
            <a:gdLst/>
            <a:ahLst/>
            <a:cxnLst/>
            <a:rect r="r" b="b" t="t" l="l"/>
            <a:pathLst>
              <a:path h="2194620" w="13005158">
                <a:moveTo>
                  <a:pt x="0" y="0"/>
                </a:moveTo>
                <a:lnTo>
                  <a:pt x="13005159" y="0"/>
                </a:lnTo>
                <a:lnTo>
                  <a:pt x="13005159" y="2194620"/>
                </a:lnTo>
                <a:lnTo>
                  <a:pt x="0" y="2194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3199" y="865784"/>
            <a:ext cx="4257587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E1F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19100" y="3096032"/>
            <a:ext cx="771999" cy="771999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19100" y="4375872"/>
            <a:ext cx="771999" cy="77199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19100" y="5655713"/>
            <a:ext cx="771999" cy="77199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32494" y="3085601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2494" y="4365441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2494" y="5645282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3361" y="4375872"/>
            <a:ext cx="6252341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8"/>
              </a:lnSpc>
              <a:spcBef>
                <a:spcPct val="0"/>
              </a:spcBef>
            </a:pPr>
            <a:r>
              <a:rPr lang="en-US" b="true" sz="3032">
                <a:solidFill>
                  <a:srgbClr val="0E1F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Pay gap for companies across the UK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3361" y="5740532"/>
            <a:ext cx="493295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8"/>
              </a:lnSpc>
              <a:spcBef>
                <a:spcPct val="0"/>
              </a:spcBef>
            </a:pPr>
            <a:r>
              <a:rPr lang="en-US" b="true" sz="3032">
                <a:solidFill>
                  <a:srgbClr val="0E1F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Pay gap across industries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3361" y="3249911"/>
            <a:ext cx="280955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8"/>
              </a:lnSpc>
              <a:spcBef>
                <a:spcPct val="0"/>
              </a:spcBef>
            </a:pPr>
            <a:r>
              <a:rPr lang="en-US" b="true" sz="3032">
                <a:solidFill>
                  <a:srgbClr val="0E1F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findings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57200" y="6932537"/>
            <a:ext cx="771999" cy="771999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94394" y="8155227"/>
            <a:ext cx="771999" cy="771999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70594" y="6922106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7788" y="8144796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0555" y="6854957"/>
            <a:ext cx="6664651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5"/>
              </a:lnSpc>
              <a:spcBef>
                <a:spcPct val="0"/>
              </a:spcBef>
            </a:pPr>
            <a:r>
              <a:rPr lang="en-US" b="true" sz="3029">
                <a:solidFill>
                  <a:srgbClr val="0E1F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Pay gaps across different regions of the UK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80847" y="3083081"/>
            <a:ext cx="641726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5"/>
              </a:lnSpc>
              <a:spcBef>
                <a:spcPct val="0"/>
              </a:spcBef>
            </a:pPr>
            <a:r>
              <a:rPr lang="en-US" b="true" sz="3029">
                <a:solidFill>
                  <a:srgbClr val="0E1F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Companies with the largest pay gaps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880993" y="3154282"/>
            <a:ext cx="771999" cy="771999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8994387" y="3143851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880993" y="4359023"/>
            <a:ext cx="771999" cy="771999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994387" y="4358117"/>
            <a:ext cx="545211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495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06398" y="5783029"/>
            <a:ext cx="649972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5"/>
              </a:lnSpc>
              <a:spcBef>
                <a:spcPct val="0"/>
              </a:spcBef>
            </a:pPr>
            <a:r>
              <a:rPr lang="en-US" b="true" sz="3029">
                <a:solidFill>
                  <a:srgbClr val="0E1F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Average pay gaps over the years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880993" y="5622109"/>
            <a:ext cx="771999" cy="771999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994387" y="5621203"/>
            <a:ext cx="545211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495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56148" y="8369432"/>
            <a:ext cx="367303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5"/>
              </a:lnSpc>
              <a:spcBef>
                <a:spcPct val="0"/>
              </a:spcBef>
            </a:pPr>
            <a:r>
              <a:rPr lang="en-US" b="true" sz="3029">
                <a:solidFill>
                  <a:srgbClr val="0E1F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Gender bonus gap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44498" y="7038362"/>
            <a:ext cx="1087021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5"/>
              </a:lnSpc>
              <a:spcBef>
                <a:spcPct val="0"/>
              </a:spcBef>
            </a:pPr>
            <a:r>
              <a:rPr lang="en-US" b="true" sz="3029">
                <a:solidFill>
                  <a:srgbClr val="0E1F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Summary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58798" y="4287822"/>
            <a:ext cx="649972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5"/>
              </a:lnSpc>
              <a:spcBef>
                <a:spcPct val="0"/>
              </a:spcBef>
            </a:pPr>
            <a:r>
              <a:rPr lang="en-US" b="true" sz="3029">
                <a:solidFill>
                  <a:srgbClr val="0E1F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pay gap based on the numbers of employees within the company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880993" y="6851308"/>
            <a:ext cx="771999" cy="771999"/>
            <a:chOff x="0" y="0"/>
            <a:chExt cx="6350000" cy="6350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994387" y="6850402"/>
            <a:ext cx="545211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495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880993" y="8048470"/>
            <a:ext cx="771999" cy="771999"/>
            <a:chOff x="0" y="0"/>
            <a:chExt cx="6350000" cy="6350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994387" y="8047564"/>
            <a:ext cx="545211" cy="64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495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44498" y="8198694"/>
            <a:ext cx="1087021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5"/>
              </a:lnSpc>
              <a:spcBef>
                <a:spcPct val="0"/>
              </a:spcBef>
            </a:pPr>
            <a:r>
              <a:rPr lang="en-US" b="true" sz="3029">
                <a:solidFill>
                  <a:srgbClr val="0E1F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53699" y="2183076"/>
            <a:ext cx="7085106" cy="8100011"/>
          </a:xfrm>
          <a:prstGeom prst="rect">
            <a:avLst/>
          </a:prstGeom>
        </p:spPr>
      </p:pic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779890" y="4775534"/>
          <a:ext cx="10229404" cy="3456862"/>
        </p:xfrm>
        <a:graphic>
          <a:graphicData uri="http://schemas.openxmlformats.org/drawingml/2006/table">
            <a:tbl>
              <a:tblPr/>
              <a:tblGrid>
                <a:gridCol w="5114702"/>
                <a:gridCol w="5114702"/>
              </a:tblGrid>
              <a:tr h="17284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Companies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b="true" sz="3000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Avg Median Hourly Percent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284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13378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11.925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-3202521" y="1133475"/>
            <a:ext cx="16590117" cy="103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2"/>
              </a:lnSpc>
              <a:spcBef>
                <a:spcPct val="0"/>
              </a:spcBef>
            </a:pPr>
            <a:r>
              <a:rPr lang="en-US" b="true" sz="7539">
                <a:solidFill>
                  <a:srgbClr val="F0F7FE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MAIN FINDINGS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3940" y="878130"/>
            <a:ext cx="17920121" cy="150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1"/>
              </a:lnSpc>
              <a:spcBef>
                <a:spcPct val="0"/>
              </a:spcBef>
            </a:pPr>
            <a:r>
              <a:rPr lang="en-US" b="true" sz="5557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AVERAGE PAY GAP FOR COMPANIES ACROSS THE UK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94161" y="1440895"/>
            <a:ext cx="8270981" cy="9369928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0462631" y="3426970"/>
            <a:ext cx="6639878" cy="1127594"/>
            <a:chOff x="0" y="0"/>
            <a:chExt cx="1962507" cy="3332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62507" cy="333276"/>
            </a:xfrm>
            <a:custGeom>
              <a:avLst/>
              <a:gdLst/>
              <a:ahLst/>
              <a:cxnLst/>
              <a:rect r="r" b="b" t="t" l="l"/>
              <a:pathLst>
                <a:path h="333276" w="1962507">
                  <a:moveTo>
                    <a:pt x="59465" y="0"/>
                  </a:moveTo>
                  <a:lnTo>
                    <a:pt x="1903042" y="0"/>
                  </a:lnTo>
                  <a:cubicBezTo>
                    <a:pt x="1935884" y="0"/>
                    <a:pt x="1962507" y="26623"/>
                    <a:pt x="1962507" y="59465"/>
                  </a:cubicBezTo>
                  <a:lnTo>
                    <a:pt x="1962507" y="273811"/>
                  </a:lnTo>
                  <a:cubicBezTo>
                    <a:pt x="1962507" y="306653"/>
                    <a:pt x="1935884" y="333276"/>
                    <a:pt x="1903042" y="333276"/>
                  </a:cubicBezTo>
                  <a:lnTo>
                    <a:pt x="59465" y="333276"/>
                  </a:lnTo>
                  <a:cubicBezTo>
                    <a:pt x="26623" y="333276"/>
                    <a:pt x="0" y="306653"/>
                    <a:pt x="0" y="273811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62507" cy="371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62631" y="4998264"/>
            <a:ext cx="6639878" cy="1127594"/>
            <a:chOff x="0" y="0"/>
            <a:chExt cx="1962507" cy="3332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62507" cy="333276"/>
            </a:xfrm>
            <a:custGeom>
              <a:avLst/>
              <a:gdLst/>
              <a:ahLst/>
              <a:cxnLst/>
              <a:rect r="r" b="b" t="t" l="l"/>
              <a:pathLst>
                <a:path h="333276" w="1962507">
                  <a:moveTo>
                    <a:pt x="59465" y="0"/>
                  </a:moveTo>
                  <a:lnTo>
                    <a:pt x="1903042" y="0"/>
                  </a:lnTo>
                  <a:cubicBezTo>
                    <a:pt x="1935884" y="0"/>
                    <a:pt x="1962507" y="26623"/>
                    <a:pt x="1962507" y="59465"/>
                  </a:cubicBezTo>
                  <a:lnTo>
                    <a:pt x="1962507" y="273811"/>
                  </a:lnTo>
                  <a:cubicBezTo>
                    <a:pt x="1962507" y="306653"/>
                    <a:pt x="1935884" y="333276"/>
                    <a:pt x="1903042" y="333276"/>
                  </a:cubicBezTo>
                  <a:lnTo>
                    <a:pt x="59465" y="333276"/>
                  </a:lnTo>
                  <a:cubicBezTo>
                    <a:pt x="26623" y="333276"/>
                    <a:pt x="0" y="306653"/>
                    <a:pt x="0" y="273811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62507" cy="371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462631" y="6569558"/>
            <a:ext cx="6639878" cy="1127594"/>
            <a:chOff x="0" y="0"/>
            <a:chExt cx="1962507" cy="3332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62507" cy="333276"/>
            </a:xfrm>
            <a:custGeom>
              <a:avLst/>
              <a:gdLst/>
              <a:ahLst/>
              <a:cxnLst/>
              <a:rect r="r" b="b" t="t" l="l"/>
              <a:pathLst>
                <a:path h="333276" w="1962507">
                  <a:moveTo>
                    <a:pt x="59465" y="0"/>
                  </a:moveTo>
                  <a:lnTo>
                    <a:pt x="1903042" y="0"/>
                  </a:lnTo>
                  <a:cubicBezTo>
                    <a:pt x="1935884" y="0"/>
                    <a:pt x="1962507" y="26623"/>
                    <a:pt x="1962507" y="59465"/>
                  </a:cubicBezTo>
                  <a:lnTo>
                    <a:pt x="1962507" y="273811"/>
                  </a:lnTo>
                  <a:cubicBezTo>
                    <a:pt x="1962507" y="306653"/>
                    <a:pt x="1935884" y="333276"/>
                    <a:pt x="1903042" y="333276"/>
                  </a:cubicBezTo>
                  <a:lnTo>
                    <a:pt x="59465" y="333276"/>
                  </a:lnTo>
                  <a:cubicBezTo>
                    <a:pt x="26623" y="333276"/>
                    <a:pt x="0" y="306653"/>
                    <a:pt x="0" y="273811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62507" cy="371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62631" y="8140853"/>
            <a:ext cx="6639878" cy="1127594"/>
            <a:chOff x="0" y="0"/>
            <a:chExt cx="1962507" cy="3332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62507" cy="333276"/>
            </a:xfrm>
            <a:custGeom>
              <a:avLst/>
              <a:gdLst/>
              <a:ahLst/>
              <a:cxnLst/>
              <a:rect r="r" b="b" t="t" l="l"/>
              <a:pathLst>
                <a:path h="333276" w="1962507">
                  <a:moveTo>
                    <a:pt x="59465" y="0"/>
                  </a:moveTo>
                  <a:lnTo>
                    <a:pt x="1903042" y="0"/>
                  </a:lnTo>
                  <a:cubicBezTo>
                    <a:pt x="1935884" y="0"/>
                    <a:pt x="1962507" y="26623"/>
                    <a:pt x="1962507" y="59465"/>
                  </a:cubicBezTo>
                  <a:lnTo>
                    <a:pt x="1962507" y="273811"/>
                  </a:lnTo>
                  <a:cubicBezTo>
                    <a:pt x="1962507" y="306653"/>
                    <a:pt x="1935884" y="333276"/>
                    <a:pt x="1903042" y="333276"/>
                  </a:cubicBezTo>
                  <a:lnTo>
                    <a:pt x="59465" y="333276"/>
                  </a:lnTo>
                  <a:cubicBezTo>
                    <a:pt x="26623" y="333276"/>
                    <a:pt x="0" y="306653"/>
                    <a:pt x="0" y="273811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62507" cy="371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529179" y="3845937"/>
            <a:ext cx="6506781" cy="27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9"/>
              </a:lnSpc>
              <a:spcBef>
                <a:spcPct val="0"/>
              </a:spcBef>
            </a:pPr>
            <a:r>
              <a:rPr lang="en-US" b="true" sz="2018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LOW QU</a:t>
            </a:r>
            <a:r>
              <a:rPr lang="en-US" b="true" sz="2018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ARTILE: </a:t>
            </a:r>
            <a:r>
              <a:rPr lang="en-US" sz="201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MORE WOMEN THAN MEN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9179" y="5344096"/>
            <a:ext cx="6506781" cy="54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9"/>
              </a:lnSpc>
              <a:spcBef>
                <a:spcPct val="0"/>
              </a:spcBef>
            </a:pPr>
            <a:r>
              <a:rPr lang="en-US" b="true" sz="2018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LOWER MIDDLE QU</a:t>
            </a:r>
            <a:r>
              <a:rPr lang="en-US" b="true" sz="2018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ARTILE: </a:t>
            </a:r>
            <a:r>
              <a:rPr lang="en-US" sz="201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BALANCE BEGINS SHIFTING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29179" y="6947030"/>
            <a:ext cx="6506781" cy="54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9"/>
              </a:lnSpc>
              <a:spcBef>
                <a:spcPct val="0"/>
              </a:spcBef>
            </a:pPr>
            <a:r>
              <a:rPr lang="en-US" b="true" sz="2018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UPPER MIDDLE QU</a:t>
            </a:r>
            <a:r>
              <a:rPr lang="en-US" b="true" sz="2018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ARTILE: </a:t>
            </a:r>
            <a:r>
              <a:rPr lang="en-US" sz="201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MORE MEN THAN WOMEN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29179" y="8626164"/>
            <a:ext cx="6506781" cy="27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9"/>
              </a:lnSpc>
              <a:spcBef>
                <a:spcPct val="0"/>
              </a:spcBef>
            </a:pPr>
            <a:r>
              <a:rPr lang="en-US" b="true" sz="2018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TOP QU</a:t>
            </a:r>
            <a:r>
              <a:rPr lang="en-US" b="true" sz="2018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ARTILE: </a:t>
            </a:r>
            <a:r>
              <a:rPr lang="en-US" sz="2018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MEN DOMINATE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1426" y="783244"/>
            <a:ext cx="14950377" cy="185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2"/>
              </a:lnSpc>
              <a:spcBef>
                <a:spcPct val="0"/>
              </a:spcBef>
            </a:pPr>
            <a:r>
              <a:rPr lang="en-US" b="true" sz="6794">
                <a:solidFill>
                  <a:srgbClr val="F0F7FE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AVERAGE PAY GAPS ACROSS INDUSTRIES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41935" y="1922678"/>
            <a:ext cx="7751198" cy="8584357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9144000" y="3985011"/>
            <a:ext cx="8115300" cy="1902937"/>
            <a:chOff x="0" y="0"/>
            <a:chExt cx="2137363" cy="5011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7363" cy="501185"/>
            </a:xfrm>
            <a:custGeom>
              <a:avLst/>
              <a:gdLst/>
              <a:ahLst/>
              <a:cxnLst/>
              <a:rect r="r" b="b" t="t" l="l"/>
              <a:pathLst>
                <a:path h="501185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452531"/>
                  </a:lnTo>
                  <a:cubicBezTo>
                    <a:pt x="2137363" y="479402"/>
                    <a:pt x="2115580" y="501185"/>
                    <a:pt x="2088710" y="501185"/>
                  </a:cubicBezTo>
                  <a:lnTo>
                    <a:pt x="48654" y="501185"/>
                  </a:lnTo>
                  <a:cubicBezTo>
                    <a:pt x="21783" y="501185"/>
                    <a:pt x="0" y="479402"/>
                    <a:pt x="0" y="452531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025C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2137363" cy="472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6452609"/>
            <a:ext cx="8115300" cy="1836278"/>
            <a:chOff x="0" y="0"/>
            <a:chExt cx="2137363" cy="4836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7363" cy="483629"/>
            </a:xfrm>
            <a:custGeom>
              <a:avLst/>
              <a:gdLst/>
              <a:ahLst/>
              <a:cxnLst/>
              <a:rect r="r" b="b" t="t" l="l"/>
              <a:pathLst>
                <a:path h="483629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434975"/>
                  </a:lnTo>
                  <a:cubicBezTo>
                    <a:pt x="2137363" y="461846"/>
                    <a:pt x="2115580" y="483629"/>
                    <a:pt x="2088710" y="483629"/>
                  </a:cubicBezTo>
                  <a:lnTo>
                    <a:pt x="48654" y="483629"/>
                  </a:lnTo>
                  <a:cubicBezTo>
                    <a:pt x="21783" y="483629"/>
                    <a:pt x="0" y="461846"/>
                    <a:pt x="0" y="434975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025C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137363" cy="455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739132" y="4387760"/>
            <a:ext cx="7106765" cy="36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4"/>
              </a:lnSpc>
            </a:pPr>
            <a:r>
              <a:rPr lang="en-US" b="true" sz="3953">
                <a:solidFill>
                  <a:srgbClr val="F0F7FE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Men c</a:t>
            </a:r>
            <a:r>
              <a:rPr lang="en-US" b="true" sz="3953">
                <a:solidFill>
                  <a:srgbClr val="F0F7FE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onsistently earn more than women</a:t>
            </a:r>
          </a:p>
          <a:p>
            <a:pPr algn="l">
              <a:lnSpc>
                <a:spcPts val="4744"/>
              </a:lnSpc>
            </a:pPr>
          </a:p>
          <a:p>
            <a:pPr algn="l">
              <a:lnSpc>
                <a:spcPts val="4744"/>
              </a:lnSpc>
            </a:pPr>
          </a:p>
          <a:p>
            <a:pPr algn="ctr">
              <a:lnSpc>
                <a:spcPts val="4744"/>
              </a:lnSpc>
            </a:pPr>
            <a:r>
              <a:rPr lang="en-US" b="true" sz="3953">
                <a:solidFill>
                  <a:srgbClr val="F0F7FE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Most notably in banking and education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056768" y="2829726"/>
          <a:ext cx="7187013" cy="6962775"/>
        </p:xfrm>
        <a:graphic>
          <a:graphicData uri="http://schemas.openxmlformats.org/drawingml/2006/table">
            <a:tbl>
              <a:tblPr/>
              <a:tblGrid>
                <a:gridCol w="3657942"/>
                <a:gridCol w="3529072"/>
              </a:tblGrid>
              <a:tr h="10247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 b="true">
                          <a:solidFill>
                            <a:srgbClr val="000000"/>
                          </a:solidFill>
                          <a:latin typeface="TT Lakes Neue Bold"/>
                          <a:ea typeface="TT Lakes Neue Bold"/>
                          <a:cs typeface="TT Lakes Neue Bold"/>
                          <a:sym typeface="TT Lakes Neue Bold"/>
                        </a:rPr>
                        <a:t>Region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 b="true">
                          <a:solidFill>
                            <a:srgbClr val="000000"/>
                          </a:solidFill>
                          <a:latin typeface="TT Lakes Neue Bold"/>
                          <a:ea typeface="TT Lakes Neue Bold"/>
                          <a:cs typeface="TT Lakes Neue Bold"/>
                          <a:sym typeface="TT Lakes Neue Bold"/>
                        </a:rPr>
                        <a:t>AVG Diff Median Pay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0247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South West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13.85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21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Yorkshire and the Humber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13.62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2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London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12.75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2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South East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12.44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2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North East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12.33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2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East of England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5"/>
                        </a:lnSpc>
                        <a:defRPr/>
                      </a:pPr>
                      <a:r>
                        <a:rPr lang="en-US" sz="2317">
                          <a:solidFill>
                            <a:srgbClr val="000000"/>
                          </a:solidFill>
                          <a:latin typeface="TT Lakes Neue"/>
                          <a:ea typeface="TT Lakes Neue"/>
                          <a:cs typeface="TT Lakes Neue"/>
                          <a:sym typeface="TT Lakes Neue"/>
                        </a:rPr>
                        <a:t>12.26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1790176" y="2881406"/>
            <a:ext cx="4530645" cy="4524188"/>
          </a:xfrm>
          <a:custGeom>
            <a:avLst/>
            <a:gdLst/>
            <a:ahLst/>
            <a:cxnLst/>
            <a:rect r="r" b="b" t="t" l="l"/>
            <a:pathLst>
              <a:path h="4524188" w="4530645">
                <a:moveTo>
                  <a:pt x="0" y="0"/>
                </a:moveTo>
                <a:lnTo>
                  <a:pt x="4530645" y="0"/>
                </a:lnTo>
                <a:lnTo>
                  <a:pt x="4530645" y="4524188"/>
                </a:lnTo>
                <a:lnTo>
                  <a:pt x="0" y="4524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90" r="-2435" b="-129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790176" y="7700869"/>
            <a:ext cx="4752196" cy="2091632"/>
            <a:chOff x="0" y="0"/>
            <a:chExt cx="1251607" cy="5508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1607" cy="550883"/>
            </a:xfrm>
            <a:custGeom>
              <a:avLst/>
              <a:gdLst/>
              <a:ahLst/>
              <a:cxnLst/>
              <a:rect r="r" b="b" t="t" l="l"/>
              <a:pathLst>
                <a:path h="550883" w="1251607">
                  <a:moveTo>
                    <a:pt x="83085" y="0"/>
                  </a:moveTo>
                  <a:lnTo>
                    <a:pt x="1168522" y="0"/>
                  </a:lnTo>
                  <a:cubicBezTo>
                    <a:pt x="1190557" y="0"/>
                    <a:pt x="1211691" y="8754"/>
                    <a:pt x="1227272" y="24335"/>
                  </a:cubicBezTo>
                  <a:cubicBezTo>
                    <a:pt x="1242854" y="39917"/>
                    <a:pt x="1251607" y="61050"/>
                    <a:pt x="1251607" y="83085"/>
                  </a:cubicBezTo>
                  <a:lnTo>
                    <a:pt x="1251607" y="467797"/>
                  </a:lnTo>
                  <a:cubicBezTo>
                    <a:pt x="1251607" y="489833"/>
                    <a:pt x="1242854" y="510966"/>
                    <a:pt x="1227272" y="526547"/>
                  </a:cubicBezTo>
                  <a:cubicBezTo>
                    <a:pt x="1211691" y="542129"/>
                    <a:pt x="1190557" y="550883"/>
                    <a:pt x="1168522" y="550883"/>
                  </a:cubicBezTo>
                  <a:lnTo>
                    <a:pt x="83085" y="550883"/>
                  </a:lnTo>
                  <a:cubicBezTo>
                    <a:pt x="61050" y="550883"/>
                    <a:pt x="39917" y="542129"/>
                    <a:pt x="24335" y="526547"/>
                  </a:cubicBezTo>
                  <a:cubicBezTo>
                    <a:pt x="8754" y="510966"/>
                    <a:pt x="0" y="489833"/>
                    <a:pt x="0" y="467797"/>
                  </a:cubicBezTo>
                  <a:lnTo>
                    <a:pt x="0" y="83085"/>
                  </a:lnTo>
                  <a:cubicBezTo>
                    <a:pt x="0" y="61050"/>
                    <a:pt x="8754" y="39917"/>
                    <a:pt x="24335" y="24335"/>
                  </a:cubicBezTo>
                  <a:cubicBezTo>
                    <a:pt x="39917" y="8754"/>
                    <a:pt x="61050" y="0"/>
                    <a:pt x="83085" y="0"/>
                  </a:cubicBezTo>
                  <a:close/>
                </a:path>
              </a:pathLst>
            </a:custGeom>
            <a:solidFill>
              <a:srgbClr val="C6E6F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251607" cy="522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67179" y="826878"/>
            <a:ext cx="14353641" cy="175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  <a:spcBef>
                <a:spcPct val="0"/>
              </a:spcBef>
            </a:pPr>
            <a:r>
              <a:rPr lang="en-US" b="true" sz="6457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AVERAGE PAY GAPS ACROSS DIFFERENT REGIONS OF THE UK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90176" y="7971624"/>
            <a:ext cx="475219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9"/>
              </a:lnSpc>
              <a:spcBef>
                <a:spcPct val="0"/>
              </a:spcBef>
            </a:pPr>
            <a:r>
              <a:rPr lang="en-US" b="true" sz="3408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“The gap in S</a:t>
            </a:r>
            <a:r>
              <a:rPr lang="en-US" b="true" sz="3408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outh West and Yorkshire </a:t>
            </a:r>
          </a:p>
          <a:p>
            <a:pPr algn="ctr">
              <a:lnSpc>
                <a:spcPts val="4089"/>
              </a:lnSpc>
              <a:spcBef>
                <a:spcPct val="0"/>
              </a:spcBef>
            </a:pPr>
            <a:r>
              <a:rPr lang="en-US" b="true" sz="3408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exceeds 13%”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96804" y="5352041"/>
            <a:ext cx="6697215" cy="4603394"/>
            <a:chOff x="0" y="0"/>
            <a:chExt cx="8929620" cy="6137859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6305685" y="0"/>
              <a:ext cx="2623935" cy="6137859"/>
            </a:xfrm>
            <a:custGeom>
              <a:avLst/>
              <a:gdLst/>
              <a:ahLst/>
              <a:cxnLst/>
              <a:rect r="r" b="b" t="t" l="l"/>
              <a:pathLst>
                <a:path h="6137859" w="2623935">
                  <a:moveTo>
                    <a:pt x="2623935" y="0"/>
                  </a:moveTo>
                  <a:lnTo>
                    <a:pt x="0" y="0"/>
                  </a:lnTo>
                  <a:lnTo>
                    <a:pt x="0" y="6137859"/>
                  </a:lnTo>
                  <a:lnTo>
                    <a:pt x="2623935" y="6137859"/>
                  </a:lnTo>
                  <a:lnTo>
                    <a:pt x="2623935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451116"/>
              <a:ext cx="2686986" cy="5686743"/>
            </a:xfrm>
            <a:custGeom>
              <a:avLst/>
              <a:gdLst/>
              <a:ahLst/>
              <a:cxnLst/>
              <a:rect r="r" b="b" t="t" l="l"/>
              <a:pathLst>
                <a:path h="5686743" w="2686986">
                  <a:moveTo>
                    <a:pt x="0" y="0"/>
                  </a:moveTo>
                  <a:lnTo>
                    <a:pt x="2686986" y="0"/>
                  </a:lnTo>
                  <a:lnTo>
                    <a:pt x="2686986" y="5686743"/>
                  </a:lnTo>
                  <a:lnTo>
                    <a:pt x="0" y="5686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686986" y="259741"/>
              <a:ext cx="3689739" cy="3188062"/>
            </a:xfrm>
            <a:custGeom>
              <a:avLst/>
              <a:gdLst/>
              <a:ahLst/>
              <a:cxnLst/>
              <a:rect r="r" b="b" t="t" l="l"/>
              <a:pathLst>
                <a:path h="3188062" w="3689739">
                  <a:moveTo>
                    <a:pt x="0" y="0"/>
                  </a:moveTo>
                  <a:lnTo>
                    <a:pt x="3689739" y="0"/>
                  </a:lnTo>
                  <a:lnTo>
                    <a:pt x="3689739" y="3188061"/>
                  </a:lnTo>
                  <a:lnTo>
                    <a:pt x="0" y="3188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58112" t="0" r="-57961" b="-7368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512952" y="2544799"/>
            <a:ext cx="6866372" cy="1996511"/>
            <a:chOff x="0" y="0"/>
            <a:chExt cx="1808427" cy="5258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8427" cy="525830"/>
            </a:xfrm>
            <a:custGeom>
              <a:avLst/>
              <a:gdLst/>
              <a:ahLst/>
              <a:cxnLst/>
              <a:rect r="r" b="b" t="t" l="l"/>
              <a:pathLst>
                <a:path h="525830" w="1808427">
                  <a:moveTo>
                    <a:pt x="57503" y="0"/>
                  </a:moveTo>
                  <a:lnTo>
                    <a:pt x="1750924" y="0"/>
                  </a:lnTo>
                  <a:cubicBezTo>
                    <a:pt x="1782682" y="0"/>
                    <a:pt x="1808427" y="25745"/>
                    <a:pt x="1808427" y="57503"/>
                  </a:cubicBezTo>
                  <a:lnTo>
                    <a:pt x="1808427" y="468327"/>
                  </a:lnTo>
                  <a:cubicBezTo>
                    <a:pt x="1808427" y="500085"/>
                    <a:pt x="1782682" y="525830"/>
                    <a:pt x="1750924" y="525830"/>
                  </a:cubicBezTo>
                  <a:lnTo>
                    <a:pt x="57503" y="525830"/>
                  </a:lnTo>
                  <a:cubicBezTo>
                    <a:pt x="25745" y="525830"/>
                    <a:pt x="0" y="500085"/>
                    <a:pt x="0" y="468327"/>
                  </a:cubicBezTo>
                  <a:lnTo>
                    <a:pt x="0" y="57503"/>
                  </a:lnTo>
                  <a:cubicBezTo>
                    <a:pt x="0" y="25745"/>
                    <a:pt x="25745" y="0"/>
                    <a:pt x="57503" y="0"/>
                  </a:cubicBezTo>
                  <a:close/>
                </a:path>
              </a:pathLst>
            </a:custGeom>
            <a:solidFill>
              <a:srgbClr val="BAE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808427" cy="497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341862" y="838200"/>
            <a:ext cx="9604276" cy="895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5"/>
              </a:lnSpc>
              <a:spcBef>
                <a:spcPct val="0"/>
              </a:spcBef>
            </a:pPr>
            <a:r>
              <a:rPr lang="en-US" b="true" sz="6457" strike="noStrike" u="none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AVERAGE BONUS GAP</a:t>
            </a:r>
            <a:r>
              <a:rPr lang="en-US" b="true" sz="6457" strike="noStrike" u="none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96331" y="2990604"/>
            <a:ext cx="6634394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8"/>
              </a:lnSpc>
              <a:spcBef>
                <a:spcPct val="0"/>
              </a:spcBef>
            </a:pPr>
            <a:r>
              <a:rPr lang="en-US" b="true" sz="3632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 “A s</a:t>
            </a:r>
            <a:r>
              <a:rPr lang="en-US" b="true" sz="3632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ubtle but persistent gap in reward structures”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62293" y="1750708"/>
            <a:ext cx="9507131" cy="78558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684167" y="1878308"/>
            <a:ext cx="11201155" cy="7301653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930598" y="1230158"/>
            <a:ext cx="14426804" cy="67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8"/>
              </a:lnSpc>
              <a:spcBef>
                <a:spcPct val="0"/>
              </a:spcBef>
            </a:pPr>
            <a:r>
              <a:rPr lang="en-US" b="true" sz="4838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COMPANIES WITH THE LARGEST PAY GAPS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070746" y="1095308"/>
            <a:ext cx="7549226" cy="97061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044653" y="1611310"/>
            <a:ext cx="11865192" cy="8445256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true" flipV="false" rot="0">
            <a:off x="12186139" y="8013618"/>
            <a:ext cx="6010965" cy="1720639"/>
          </a:xfrm>
          <a:custGeom>
            <a:avLst/>
            <a:gdLst/>
            <a:ahLst/>
            <a:cxnLst/>
            <a:rect r="r" b="b" t="t" l="l"/>
            <a:pathLst>
              <a:path h="1720639" w="6010965">
                <a:moveTo>
                  <a:pt x="6010965" y="0"/>
                </a:moveTo>
                <a:lnTo>
                  <a:pt x="0" y="0"/>
                </a:lnTo>
                <a:lnTo>
                  <a:pt x="0" y="1720639"/>
                </a:lnTo>
                <a:lnTo>
                  <a:pt x="6010965" y="1720639"/>
                </a:lnTo>
                <a:lnTo>
                  <a:pt x="601096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04707" y="1119570"/>
            <a:ext cx="16078586" cy="116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  <a:spcBef>
                <a:spcPct val="0"/>
              </a:spcBef>
            </a:pPr>
            <a:r>
              <a:rPr lang="en-US" b="true" sz="42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THE AVERAGE PAY GAP BASED ON THE  NUMBERS OF EMPLOYEES WITHIN THE COMPANY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42333" y="0"/>
            <a:ext cx="4118377" cy="4267748"/>
          </a:xfrm>
          <a:custGeom>
            <a:avLst/>
            <a:gdLst/>
            <a:ahLst/>
            <a:cxnLst/>
            <a:rect r="r" b="b" t="t" l="l"/>
            <a:pathLst>
              <a:path h="4267748" w="4118377">
                <a:moveTo>
                  <a:pt x="0" y="0"/>
                </a:moveTo>
                <a:lnTo>
                  <a:pt x="4118377" y="0"/>
                </a:lnTo>
                <a:lnTo>
                  <a:pt x="4118377" y="4267748"/>
                </a:lnTo>
                <a:lnTo>
                  <a:pt x="0" y="4267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449285" y="837094"/>
            <a:ext cx="10145462" cy="1007168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763012" y="3905428"/>
            <a:ext cx="7864177" cy="39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  <a:spcBef>
                <a:spcPct val="0"/>
              </a:spcBef>
            </a:pPr>
            <a:r>
              <a:rPr lang="en-US" b="true" sz="2901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M</a:t>
            </a:r>
            <a:r>
              <a:rPr lang="en-US" b="true" sz="2901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AKE SALARIES OPEN AND CLEAR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0587" y="3294006"/>
            <a:ext cx="6639878" cy="1127594"/>
            <a:chOff x="0" y="0"/>
            <a:chExt cx="1962507" cy="3332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2507" cy="333276"/>
            </a:xfrm>
            <a:custGeom>
              <a:avLst/>
              <a:gdLst/>
              <a:ahLst/>
              <a:cxnLst/>
              <a:rect r="r" b="b" t="t" l="l"/>
              <a:pathLst>
                <a:path h="333276" w="1962507">
                  <a:moveTo>
                    <a:pt x="59465" y="0"/>
                  </a:moveTo>
                  <a:lnTo>
                    <a:pt x="1903042" y="0"/>
                  </a:lnTo>
                  <a:cubicBezTo>
                    <a:pt x="1935884" y="0"/>
                    <a:pt x="1962507" y="26623"/>
                    <a:pt x="1962507" y="59465"/>
                  </a:cubicBezTo>
                  <a:lnTo>
                    <a:pt x="1962507" y="273811"/>
                  </a:lnTo>
                  <a:cubicBezTo>
                    <a:pt x="1962507" y="306653"/>
                    <a:pt x="1935884" y="333276"/>
                    <a:pt x="1903042" y="333276"/>
                  </a:cubicBezTo>
                  <a:lnTo>
                    <a:pt x="59465" y="333276"/>
                  </a:lnTo>
                  <a:cubicBezTo>
                    <a:pt x="26623" y="333276"/>
                    <a:pt x="0" y="306653"/>
                    <a:pt x="0" y="273811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62507" cy="371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0587" y="4938274"/>
            <a:ext cx="6639878" cy="1127594"/>
            <a:chOff x="0" y="0"/>
            <a:chExt cx="1962507" cy="3332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2507" cy="333276"/>
            </a:xfrm>
            <a:custGeom>
              <a:avLst/>
              <a:gdLst/>
              <a:ahLst/>
              <a:cxnLst/>
              <a:rect r="r" b="b" t="t" l="l"/>
              <a:pathLst>
                <a:path h="333276" w="1962507">
                  <a:moveTo>
                    <a:pt x="59465" y="0"/>
                  </a:moveTo>
                  <a:lnTo>
                    <a:pt x="1903042" y="0"/>
                  </a:lnTo>
                  <a:cubicBezTo>
                    <a:pt x="1935884" y="0"/>
                    <a:pt x="1962507" y="26623"/>
                    <a:pt x="1962507" y="59465"/>
                  </a:cubicBezTo>
                  <a:lnTo>
                    <a:pt x="1962507" y="273811"/>
                  </a:lnTo>
                  <a:cubicBezTo>
                    <a:pt x="1962507" y="306653"/>
                    <a:pt x="1935884" y="333276"/>
                    <a:pt x="1903042" y="333276"/>
                  </a:cubicBezTo>
                  <a:lnTo>
                    <a:pt x="59465" y="333276"/>
                  </a:lnTo>
                  <a:cubicBezTo>
                    <a:pt x="26623" y="333276"/>
                    <a:pt x="0" y="306653"/>
                    <a:pt x="0" y="273811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62507" cy="371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0587" y="6582542"/>
            <a:ext cx="6639878" cy="1127594"/>
            <a:chOff x="0" y="0"/>
            <a:chExt cx="1962507" cy="3332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2507" cy="333276"/>
            </a:xfrm>
            <a:custGeom>
              <a:avLst/>
              <a:gdLst/>
              <a:ahLst/>
              <a:cxnLst/>
              <a:rect r="r" b="b" t="t" l="l"/>
              <a:pathLst>
                <a:path h="333276" w="1962507">
                  <a:moveTo>
                    <a:pt x="59465" y="0"/>
                  </a:moveTo>
                  <a:lnTo>
                    <a:pt x="1903042" y="0"/>
                  </a:lnTo>
                  <a:cubicBezTo>
                    <a:pt x="1935884" y="0"/>
                    <a:pt x="1962507" y="26623"/>
                    <a:pt x="1962507" y="59465"/>
                  </a:cubicBezTo>
                  <a:lnTo>
                    <a:pt x="1962507" y="273811"/>
                  </a:lnTo>
                  <a:cubicBezTo>
                    <a:pt x="1962507" y="306653"/>
                    <a:pt x="1935884" y="333276"/>
                    <a:pt x="1903042" y="333276"/>
                  </a:cubicBezTo>
                  <a:lnTo>
                    <a:pt x="59465" y="333276"/>
                  </a:lnTo>
                  <a:cubicBezTo>
                    <a:pt x="26623" y="333276"/>
                    <a:pt x="0" y="306653"/>
                    <a:pt x="0" y="273811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62507" cy="371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0587" y="8226810"/>
            <a:ext cx="6639878" cy="1127594"/>
            <a:chOff x="0" y="0"/>
            <a:chExt cx="1962507" cy="3332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2507" cy="333276"/>
            </a:xfrm>
            <a:custGeom>
              <a:avLst/>
              <a:gdLst/>
              <a:ahLst/>
              <a:cxnLst/>
              <a:rect r="r" b="b" t="t" l="l"/>
              <a:pathLst>
                <a:path h="333276" w="1962507">
                  <a:moveTo>
                    <a:pt x="59465" y="0"/>
                  </a:moveTo>
                  <a:lnTo>
                    <a:pt x="1903042" y="0"/>
                  </a:lnTo>
                  <a:cubicBezTo>
                    <a:pt x="1935884" y="0"/>
                    <a:pt x="1962507" y="26623"/>
                    <a:pt x="1962507" y="59465"/>
                  </a:cubicBezTo>
                  <a:lnTo>
                    <a:pt x="1962507" y="273811"/>
                  </a:lnTo>
                  <a:cubicBezTo>
                    <a:pt x="1962507" y="306653"/>
                    <a:pt x="1935884" y="333276"/>
                    <a:pt x="1903042" y="333276"/>
                  </a:cubicBezTo>
                  <a:lnTo>
                    <a:pt x="59465" y="333276"/>
                  </a:lnTo>
                  <a:cubicBezTo>
                    <a:pt x="26623" y="333276"/>
                    <a:pt x="0" y="306653"/>
                    <a:pt x="0" y="273811"/>
                  </a:cubicBezTo>
                  <a:lnTo>
                    <a:pt x="0" y="59465"/>
                  </a:lnTo>
                  <a:cubicBezTo>
                    <a:pt x="0" y="26623"/>
                    <a:pt x="26623" y="0"/>
                    <a:pt x="59465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62507" cy="371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52425" y="904208"/>
            <a:ext cx="8228795" cy="1590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19"/>
              </a:lnSpc>
              <a:spcBef>
                <a:spcPct val="0"/>
              </a:spcBef>
            </a:pPr>
            <a:r>
              <a:rPr lang="en-US" b="true" sz="5867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AVERAGE PAY GAPS OVER THE YEARS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5690" y="3611998"/>
            <a:ext cx="5935372" cy="52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1"/>
              </a:lnSpc>
              <a:spcBef>
                <a:spcPct val="0"/>
              </a:spcBef>
            </a:pPr>
            <a:r>
              <a:rPr lang="en-US" b="true" sz="1935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TREND: SLIGHT BUT STEADY DECREASE IN PAY GAP OVER THE YEARS.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3315" y="5238750"/>
            <a:ext cx="5935372" cy="52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1"/>
              </a:lnSpc>
              <a:spcBef>
                <a:spcPct val="0"/>
              </a:spcBef>
            </a:pPr>
            <a:r>
              <a:rPr lang="en-US" b="true" sz="1935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2020 SPIKE: NOTICEABLE DISRUPTION DURING COVID-19.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2840" y="6904068"/>
            <a:ext cx="5935372" cy="52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1"/>
              </a:lnSpc>
              <a:spcBef>
                <a:spcPct val="0"/>
              </a:spcBef>
            </a:pPr>
            <a:r>
              <a:rPr lang="en-US" b="true" sz="1935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CURRENT SITUATION: GAP REMAINS, IMPROVEMENTS ARE SLOW.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2365" y="8569386"/>
            <a:ext cx="5935372" cy="52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1"/>
              </a:lnSpc>
              <a:spcBef>
                <a:spcPct val="0"/>
              </a:spcBef>
            </a:pPr>
            <a:r>
              <a:rPr lang="en-US" b="true" sz="1935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CALL TO ACTION: MORE EFFORT NEEDED FOR FASTER, REAL EQUALITY.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E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89350" y="1407427"/>
            <a:ext cx="7509299" cy="1069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7"/>
              </a:lnSpc>
              <a:spcBef>
                <a:spcPct val="0"/>
              </a:spcBef>
            </a:pPr>
            <a:r>
              <a:rPr lang="en-US" b="true" sz="7657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SUMMARY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85050" y="3239030"/>
            <a:ext cx="8115300" cy="1490627"/>
            <a:chOff x="0" y="0"/>
            <a:chExt cx="2137363" cy="39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10612" y="3591500"/>
            <a:ext cx="7864177" cy="91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9"/>
              </a:lnSpc>
              <a:spcBef>
                <a:spcPct val="0"/>
              </a:spcBef>
            </a:pPr>
            <a:r>
              <a:rPr lang="en-US" b="true" sz="2301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• BASED ON THE MEDIAN AVERAGE OF MORE THAN 13,000 COMPANIES, THE GAP IS 11.6% IN FAVOR OF MEN.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5050" y="7125160"/>
            <a:ext cx="8115300" cy="1490627"/>
            <a:chOff x="0" y="0"/>
            <a:chExt cx="2137363" cy="3925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63100" y="3285348"/>
            <a:ext cx="8115300" cy="1490627"/>
            <a:chOff x="0" y="0"/>
            <a:chExt cx="2137363" cy="3925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66000" y="5182095"/>
            <a:ext cx="8115300" cy="1490627"/>
            <a:chOff x="0" y="0"/>
            <a:chExt cx="2137363" cy="3925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63100" y="5182095"/>
            <a:ext cx="8115300" cy="1490627"/>
            <a:chOff x="0" y="0"/>
            <a:chExt cx="2137363" cy="3925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688662" y="3743503"/>
            <a:ext cx="7864177" cy="61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9"/>
              </a:lnSpc>
              <a:spcBef>
                <a:spcPct val="0"/>
              </a:spcBef>
            </a:pPr>
            <a:r>
              <a:rPr lang="en-US" b="true" sz="2301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AS SALARIES RISE, THE QUARTILE FOR MEN INCREASES.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1562" y="5629770"/>
            <a:ext cx="7864177" cy="61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9"/>
              </a:lnSpc>
              <a:spcBef>
                <a:spcPct val="0"/>
              </a:spcBef>
            </a:pPr>
            <a:r>
              <a:rPr lang="en-US" b="true" sz="2301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THE INDUSTRIES WITH THE HIGHEST AVERAGE INEQUALITY ARE BANKS AND SCHOOLS.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88662" y="5611675"/>
            <a:ext cx="7864177" cy="61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9"/>
              </a:lnSpc>
              <a:spcBef>
                <a:spcPct val="0"/>
              </a:spcBef>
            </a:pPr>
            <a:r>
              <a:rPr lang="en-US" b="true" sz="2301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THE AVERAGE PAY GAP DOES NOT VARY SIGNIFICANTLY BETWEEN REGIONS.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0612" y="7477585"/>
            <a:ext cx="7864177" cy="91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9"/>
              </a:lnSpc>
              <a:spcBef>
                <a:spcPct val="0"/>
              </a:spcBef>
            </a:pPr>
            <a:r>
              <a:rPr lang="en-US" b="true" sz="2301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COMPANIES THAT DO NOT PROVIDE THE NUMBER OF EMPLOYEES TEND TO HAVE A HIGHER AVERAGE GAP.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63100" y="7138493"/>
            <a:ext cx="8115300" cy="1490627"/>
            <a:chOff x="0" y="0"/>
            <a:chExt cx="2137363" cy="3925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688662" y="7577597"/>
            <a:ext cx="7864177" cy="61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9"/>
              </a:lnSpc>
              <a:spcBef>
                <a:spcPct val="0"/>
              </a:spcBef>
            </a:pPr>
            <a:r>
              <a:rPr lang="en-US" b="true" sz="2301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THERE IS A DECREASE IN THE AVERAGE PAY GAP OVERALL, BUT NOT A SHARP ONE.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F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425" y="904208"/>
            <a:ext cx="8228795" cy="80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19"/>
              </a:lnSpc>
              <a:spcBef>
                <a:spcPct val="0"/>
              </a:spcBef>
            </a:pPr>
            <a:r>
              <a:rPr lang="en-US" b="true" sz="5867">
                <a:solidFill>
                  <a:srgbClr val="0E1F47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RECOMMENDATION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37450" y="3391430"/>
            <a:ext cx="8115300" cy="1490627"/>
            <a:chOff x="0" y="0"/>
            <a:chExt cx="2137363" cy="39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63012" y="3905428"/>
            <a:ext cx="7864177" cy="39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5"/>
              </a:lnSpc>
              <a:spcBef>
                <a:spcPct val="0"/>
              </a:spcBef>
            </a:pPr>
            <a:r>
              <a:rPr lang="en-US" b="true" sz="2901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M</a:t>
            </a:r>
            <a:r>
              <a:rPr lang="en-US" b="true" sz="2901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AKE SALARIES OPEN AND CLEAR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37450" y="7277560"/>
            <a:ext cx="8115300" cy="1490627"/>
            <a:chOff x="0" y="0"/>
            <a:chExt cx="2137363" cy="3925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15500" y="3437748"/>
            <a:ext cx="8115300" cy="1490627"/>
            <a:chOff x="0" y="0"/>
            <a:chExt cx="2137363" cy="3925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18400" y="5334495"/>
            <a:ext cx="8115300" cy="1490627"/>
            <a:chOff x="0" y="0"/>
            <a:chExt cx="2137363" cy="3925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715500" y="5334495"/>
            <a:ext cx="8115300" cy="1490627"/>
            <a:chOff x="0" y="0"/>
            <a:chExt cx="2137363" cy="3925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841062" y="3943552"/>
            <a:ext cx="7864177" cy="38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900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 USE A FAIR SYSTEM TO SET PAY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3962" y="5791695"/>
            <a:ext cx="7864177" cy="76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900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G</a:t>
            </a:r>
            <a:r>
              <a:rPr lang="en-US" b="true" sz="2900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IVE WOMEN MORE PROMOTION CHANCES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41062" y="5773600"/>
            <a:ext cx="7864177" cy="76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900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OFF</a:t>
            </a:r>
            <a:r>
              <a:rPr lang="en-US" b="true" sz="2900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ER FLEXIBLE WORK AND EQUAL PARENTAL LEAVE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3012" y="7848500"/>
            <a:ext cx="7864177" cy="38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900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R</a:t>
            </a:r>
            <a:r>
              <a:rPr lang="en-US" b="true" sz="2900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EVIEW PAY GAPS EVERY YEAR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715500" y="7290893"/>
            <a:ext cx="8115300" cy="1490627"/>
            <a:chOff x="0" y="0"/>
            <a:chExt cx="2137363" cy="39259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7363" cy="392593"/>
            </a:xfrm>
            <a:custGeom>
              <a:avLst/>
              <a:gdLst/>
              <a:ahLst/>
              <a:cxnLst/>
              <a:rect r="r" b="b" t="t" l="l"/>
              <a:pathLst>
                <a:path h="392593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343940"/>
                  </a:lnTo>
                  <a:cubicBezTo>
                    <a:pt x="2137363" y="370810"/>
                    <a:pt x="2115580" y="392593"/>
                    <a:pt x="2088710" y="392593"/>
                  </a:cubicBezTo>
                  <a:lnTo>
                    <a:pt x="48654" y="392593"/>
                  </a:lnTo>
                  <a:cubicBezTo>
                    <a:pt x="21783" y="392593"/>
                    <a:pt x="0" y="370810"/>
                    <a:pt x="0" y="343940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E1F4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2137363" cy="364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841062" y="7682372"/>
            <a:ext cx="7864177" cy="76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900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GIV</a:t>
            </a:r>
            <a:r>
              <a:rPr lang="en-US" b="true" sz="2900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E BONUSES FAIRLY BASED ON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E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5406" y="4384973"/>
            <a:ext cx="17137188" cy="941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0"/>
              </a:lnSpc>
              <a:spcBef>
                <a:spcPct val="0"/>
              </a:spcBef>
            </a:pPr>
            <a:r>
              <a:rPr lang="en-US" b="true" sz="6878">
                <a:solidFill>
                  <a:srgbClr val="9BBFE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CLOSE </a:t>
            </a:r>
            <a:r>
              <a:rPr lang="en-US" b="true" sz="6878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THE GAP, </a:t>
            </a:r>
            <a:r>
              <a:rPr lang="en-US" b="true" sz="6878">
                <a:solidFill>
                  <a:srgbClr val="9BBFE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OPEN </a:t>
            </a:r>
            <a:r>
              <a:rPr lang="en-US" b="true" sz="6878">
                <a:solidFill>
                  <a:srgbClr val="EFF6FD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THE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DAGxqV6GwDc</dc:identifier>
  <dcterms:modified xsi:type="dcterms:W3CDTF">2011-08-01T06:04:30Z</dcterms:modified>
  <cp:revision>1</cp:revision>
  <dc:title>Gender Pay Gap</dc:title>
</cp:coreProperties>
</file>